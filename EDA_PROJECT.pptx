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7" r:id="rId2"/>
    <p:sldId id="260" r:id="rId3"/>
    <p:sldId id="258" r:id="rId4"/>
    <p:sldId id="278" r:id="rId5"/>
    <p:sldId id="262" r:id="rId6"/>
    <p:sldId id="261" r:id="rId7"/>
    <p:sldId id="263" r:id="rId8"/>
    <p:sldId id="264" r:id="rId9"/>
    <p:sldId id="265" r:id="rId10"/>
    <p:sldId id="267" r:id="rId11"/>
    <p:sldId id="270" r:id="rId12"/>
    <p:sldId id="283" r:id="rId13"/>
    <p:sldId id="268" r:id="rId14"/>
    <p:sldId id="271" r:id="rId15"/>
    <p:sldId id="280" r:id="rId16"/>
    <p:sldId id="281" r:id="rId17"/>
    <p:sldId id="273" r:id="rId18"/>
    <p:sldId id="285" r:id="rId19"/>
    <p:sldId id="275" r:id="rId20"/>
    <p:sldId id="276" r:id="rId21"/>
    <p:sldId id="277"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84"/>
    <p:restoredTop sz="94631"/>
  </p:normalViewPr>
  <p:slideViewPr>
    <p:cSldViewPr snapToGrid="0">
      <p:cViewPr varScale="1">
        <p:scale>
          <a:sx n="117" d="100"/>
          <a:sy n="117" d="100"/>
        </p:scale>
        <p:origin x="192"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D3C89F-7B96-E743-B3D7-364B9AA5C19A}" type="datetimeFigureOut">
              <a:rPr lang="en-US" smtClean="0"/>
              <a:t>8/19/26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7533FF-48E8-2E4F-BEFC-04E76CFE8C5A}" type="slidenum">
              <a:rPr lang="en-US" smtClean="0"/>
              <a:t>‹#›</a:t>
            </a:fld>
            <a:endParaRPr lang="en-US"/>
          </a:p>
        </p:txBody>
      </p:sp>
    </p:spTree>
    <p:extLst>
      <p:ext uri="{BB962C8B-B14F-4D97-AF65-F5344CB8AC3E}">
        <p14:creationId xmlns:p14="http://schemas.microsoft.com/office/powerpoint/2010/main" val="791387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662E627C-63E5-2B5D-2887-A00117343461}"/>
            </a:ext>
          </a:extLst>
        </p:cNvPr>
        <p:cNvGrpSpPr/>
        <p:nvPr/>
      </p:nvGrpSpPr>
      <p:grpSpPr>
        <a:xfrm>
          <a:off x="0" y="0"/>
          <a:ext cx="0" cy="0"/>
          <a:chOff x="0" y="0"/>
          <a:chExt cx="0" cy="0"/>
        </a:xfrm>
      </p:grpSpPr>
      <p:sp>
        <p:nvSpPr>
          <p:cNvPr id="113" name="Google Shape;113;p5:notes">
            <a:extLst>
              <a:ext uri="{FF2B5EF4-FFF2-40B4-BE49-F238E27FC236}">
                <a16:creationId xmlns:a16="http://schemas.microsoft.com/office/drawing/2014/main" id="{B8A452D5-3E6F-BA32-EC35-29D541D801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a:extLst>
              <a:ext uri="{FF2B5EF4-FFF2-40B4-BE49-F238E27FC236}">
                <a16:creationId xmlns:a16="http://schemas.microsoft.com/office/drawing/2014/main" id="{4EA01309-3054-C255-4ACF-8FB384E242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1471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957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527D-471C-51F6-FF4F-BA2286FEAF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68D590-9516-57A1-3CC4-EBC805806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71F4C8-CB31-5541-B1CD-5D4A9734D56D}"/>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D8EFC8EF-A29C-BA58-26EF-F58FCC12D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6F4F7-726E-7D91-37E6-F5D2EC5E91B8}"/>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30079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51AD4-673F-BFD7-7D28-F0D995680F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3A2234-A7D2-52C9-B67F-46FF934CBD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2FF6EA-FAB2-C6DC-BB81-CD3F327E3F90}"/>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28FE0E82-FCEC-CB10-A05A-8577DFFBA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9244C-32FB-0988-39DD-1F07306C0867}"/>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2192799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EF2F6-8900-DE7A-EFB0-0C33D33B0E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6238E4-491A-B27F-02A5-0A60A3A55A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3011EE-0F1C-469E-023C-9C304CBA74CB}"/>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C5EA1285-F40C-767F-B1BA-8B8947F7F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68C2E-503B-1056-2165-4D39735B3B59}"/>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218372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638A-9C5C-559F-600E-2DACC5B7A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F9F7B-B799-F5D3-A43B-F93F8D411C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3B1F9-861A-BA85-2E77-8A5560B176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5B71D9-93C8-5BAD-7B37-761E258A3123}"/>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6" name="Footer Placeholder 5">
            <a:extLst>
              <a:ext uri="{FF2B5EF4-FFF2-40B4-BE49-F238E27FC236}">
                <a16:creationId xmlns:a16="http://schemas.microsoft.com/office/drawing/2014/main" id="{42DDD0B2-3D69-C3A5-2293-3B6E2F8070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021DFE-85BA-6B5A-90E2-B5A54649CCDF}"/>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365304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2BE8-EF2A-7760-3DB0-99974B586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3B583-88C7-3A47-76AD-75C2F6664A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F6FF80-6274-47EE-DF02-2A1D1524D7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33C1E8-E090-9424-4211-7B93C7413A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A745E7-D042-1863-C2D1-29D6F3D91F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416E6F-1436-CEE3-879B-F6B39561694B}"/>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8" name="Footer Placeholder 7">
            <a:extLst>
              <a:ext uri="{FF2B5EF4-FFF2-40B4-BE49-F238E27FC236}">
                <a16:creationId xmlns:a16="http://schemas.microsoft.com/office/drawing/2014/main" id="{5E8FC675-0206-D9E3-84A1-56964B584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873BF7-AA22-AB4B-48B3-8BDBF8B54106}"/>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214664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AD95-A6AC-753D-C7FB-7D84A503A9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5F95D-074D-D765-1745-3F3DC2D34F7F}"/>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4" name="Footer Placeholder 3">
            <a:extLst>
              <a:ext uri="{FF2B5EF4-FFF2-40B4-BE49-F238E27FC236}">
                <a16:creationId xmlns:a16="http://schemas.microsoft.com/office/drawing/2014/main" id="{360876BB-4F4A-303E-62DE-25088888AD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92A8CB-A997-1C58-E865-ACF7F89A42F3}"/>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162534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5D9B84-DB48-67EB-19D2-0BF7F7ED701B}"/>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3" name="Footer Placeholder 2">
            <a:extLst>
              <a:ext uri="{FF2B5EF4-FFF2-40B4-BE49-F238E27FC236}">
                <a16:creationId xmlns:a16="http://schemas.microsoft.com/office/drawing/2014/main" id="{173C4264-4F1E-4420-09E6-679FEFBA0E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08B213-CD81-D233-4B68-A55BF667B478}"/>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394769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9F7B3-C516-A701-1056-FCD8580A8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5E909D-BAAD-E96A-9CC4-EE65BA1C9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C941AB-93C9-4A92-43CA-3936B7D0C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2AA5E-A89F-74F4-EB2C-524E153D6DB2}"/>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6" name="Footer Placeholder 5">
            <a:extLst>
              <a:ext uri="{FF2B5EF4-FFF2-40B4-BE49-F238E27FC236}">
                <a16:creationId xmlns:a16="http://schemas.microsoft.com/office/drawing/2014/main" id="{95482529-34AE-651A-2C42-41F002AA14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6CA1B-A874-ACC5-3456-D4DB5A071D2B}"/>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123966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F4B2-F0E0-C091-E018-FEB04AC68D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65C038-68BD-7058-23C5-5FDDE5BAB5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DB45B-6162-834F-FE6F-D62D98274D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44E015-2A87-7630-86B8-AA95FD5B0D84}"/>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6" name="Footer Placeholder 5">
            <a:extLst>
              <a:ext uri="{FF2B5EF4-FFF2-40B4-BE49-F238E27FC236}">
                <a16:creationId xmlns:a16="http://schemas.microsoft.com/office/drawing/2014/main" id="{9697B156-84DC-CE42-5EF2-C4CAAF29FA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910EA0-C630-027A-9EC8-535069DA3DFA}"/>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2731910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DCAA-C907-0A98-52E5-92CFFF9F54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28D0D8-0657-AC61-71C6-F386CBFACC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718B9-3585-C99D-4BD2-767239B6B281}"/>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C03E9217-4F2F-3DC1-80B7-013AEE816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4CECD-E64A-9AA7-8C7D-8F49B2E7E755}"/>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1023079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619991-B05B-9488-2B4B-D5B678152F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74DC02-00B7-D5E8-9A95-9B54A9402A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FF269E-D219-916D-B274-801717F95981}"/>
              </a:ext>
            </a:extLst>
          </p:cNvPr>
          <p:cNvSpPr>
            <a:spLocks noGrp="1"/>
          </p:cNvSpPr>
          <p:nvPr>
            <p:ph type="dt" sz="half" idx="10"/>
          </p:nvPr>
        </p:nvSpPr>
        <p:spPr/>
        <p:txBody>
          <a:body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33CE965A-D375-7F41-03A2-C324AC84A0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9022F-75A3-1D5A-7F52-CBD7833CF923}"/>
              </a:ext>
            </a:extLst>
          </p:cNvPr>
          <p:cNvSpPr>
            <a:spLocks noGrp="1"/>
          </p:cNvSpPr>
          <p:nvPr>
            <p:ph type="sldNum" sz="quarter" idx="12"/>
          </p:nvPr>
        </p:nvSpPr>
        <p:spPr/>
        <p:txBody>
          <a:bodyPr/>
          <a:lstStyle/>
          <a:p>
            <a:fld id="{E9ACDDAE-4AF1-E846-B069-99791FF16CC5}" type="slidenum">
              <a:rPr lang="en-US" smtClean="0"/>
              <a:t>‹#›</a:t>
            </a:fld>
            <a:endParaRPr lang="en-US"/>
          </a:p>
        </p:txBody>
      </p:sp>
    </p:spTree>
    <p:extLst>
      <p:ext uri="{BB962C8B-B14F-4D97-AF65-F5344CB8AC3E}">
        <p14:creationId xmlns:p14="http://schemas.microsoft.com/office/powerpoint/2010/main" val="3393084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DD933-A7AD-267C-5E4F-CC1BC03CE8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FC6B42-E9AA-87E0-8121-8B2D37D11B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1676BE-8833-FD7F-45B4-BADBB72173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B303AC-5C77-1D45-A4D3-E9583583F064}" type="datetimeFigureOut">
              <a:rPr lang="en-US" smtClean="0"/>
              <a:t>8/19/26</a:t>
            </a:fld>
            <a:endParaRPr lang="en-US"/>
          </a:p>
        </p:txBody>
      </p:sp>
      <p:sp>
        <p:nvSpPr>
          <p:cNvPr id="5" name="Footer Placeholder 4">
            <a:extLst>
              <a:ext uri="{FF2B5EF4-FFF2-40B4-BE49-F238E27FC236}">
                <a16:creationId xmlns:a16="http://schemas.microsoft.com/office/drawing/2014/main" id="{2C0942F7-E3CF-278D-53E0-F776DDE935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C3D09D-16D6-CE81-7BAF-059EB63D89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ACDDAE-4AF1-E846-B069-99791FF16CC5}" type="slidenum">
              <a:rPr lang="en-US" smtClean="0"/>
              <a:t>‹#›</a:t>
            </a:fld>
            <a:endParaRPr lang="en-US"/>
          </a:p>
        </p:txBody>
      </p:sp>
    </p:spTree>
    <p:extLst>
      <p:ext uri="{BB962C8B-B14F-4D97-AF65-F5344CB8AC3E}">
        <p14:creationId xmlns:p14="http://schemas.microsoft.com/office/powerpoint/2010/main" val="4010495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ravi-kiran-gandupalli-56482b291/"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github.com/kethineneisrikanth" TargetMode="External"/><Relationship Id="rId5" Type="http://schemas.openxmlformats.org/officeDocument/2006/relationships/hyperlink" Target="http://linkedin.com/in/srikanth" TargetMode="External"/><Relationship Id="rId4" Type="http://schemas.openxmlformats.org/officeDocument/2006/relationships/hyperlink" Target="https://github.com/raviguna901"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99" name="Google Shape;99;p1"/>
          <p:cNvSpPr txBox="1"/>
          <p:nvPr/>
        </p:nvSpPr>
        <p:spPr>
          <a:xfrm>
            <a:off x="2472904" y="3707476"/>
            <a:ext cx="7246189" cy="646290"/>
          </a:xfrm>
          <a:prstGeom prst="rect">
            <a:avLst/>
          </a:prstGeom>
          <a:noFill/>
          <a:ln>
            <a:noFill/>
          </a:ln>
        </p:spPr>
        <p:txBody>
          <a:bodyPr spcFirstLastPara="1" wrap="square" lIns="91425" tIns="45700" rIns="91425" bIns="45700" anchor="t" anchorCtr="0">
            <a:spAutoFit/>
          </a:bodyPr>
          <a:lstStyle/>
          <a:p>
            <a:pPr algn="ctr">
              <a:buNone/>
            </a:pPr>
            <a:r>
              <a:rPr lang="en-US" b="1" dirty="0"/>
              <a:t>Sector-wise Financial Performance Analysis using Web Scraping and Exploratory Data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70EAA1EF-85D2-FE1B-33EE-B34A803A88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9E4E80-8771-4CFA-529F-26A20E1B2254}"/>
              </a:ext>
            </a:extLst>
          </p:cNvPr>
          <p:cNvSpPr txBox="1"/>
          <p:nvPr/>
        </p:nvSpPr>
        <p:spPr>
          <a:xfrm>
            <a:off x="700893" y="539450"/>
            <a:ext cx="12234041" cy="707886"/>
          </a:xfrm>
          <a:prstGeom prst="rect">
            <a:avLst/>
          </a:prstGeom>
          <a:noFill/>
        </p:spPr>
        <p:txBody>
          <a:bodyPr wrap="square" rtlCol="0">
            <a:spAutoFit/>
          </a:bodyPr>
          <a:lstStyle/>
          <a:p>
            <a:r>
              <a:rPr lang="en-US" sz="4000" b="1" dirty="0">
                <a:solidFill>
                  <a:srgbClr val="C00000"/>
                </a:solidFill>
                <a:latin typeface="Lato" panose="020F0502020204030203" pitchFamily="34" charset="0"/>
                <a:ea typeface="Lato" panose="020F0502020204030203" pitchFamily="34" charset="0"/>
                <a:cs typeface="Lato" panose="020F0502020204030203" pitchFamily="34" charset="0"/>
              </a:rPr>
              <a:t>Team Members &amp; Education </a:t>
            </a:r>
          </a:p>
        </p:txBody>
      </p:sp>
      <p:sp>
        <p:nvSpPr>
          <p:cNvPr id="9" name="TextBox 8">
            <a:extLst>
              <a:ext uri="{FF2B5EF4-FFF2-40B4-BE49-F238E27FC236}">
                <a16:creationId xmlns:a16="http://schemas.microsoft.com/office/drawing/2014/main" id="{BE67144C-887D-BDD8-ADBA-AF73E0671DC9}"/>
              </a:ext>
            </a:extLst>
          </p:cNvPr>
          <p:cNvSpPr txBox="1"/>
          <p:nvPr/>
        </p:nvSpPr>
        <p:spPr>
          <a:xfrm>
            <a:off x="987972" y="2480441"/>
            <a:ext cx="184731" cy="307777"/>
          </a:xfrm>
          <a:prstGeom prst="rect">
            <a:avLst/>
          </a:prstGeom>
          <a:noFill/>
        </p:spPr>
        <p:txBody>
          <a:bodyPr wrap="none" rtlCol="0">
            <a:spAutoFit/>
          </a:bodyPr>
          <a:lstStyle/>
          <a:p>
            <a:endParaRPr lang="en-US" dirty="0"/>
          </a:p>
        </p:txBody>
      </p:sp>
      <p:sp>
        <p:nvSpPr>
          <p:cNvPr id="12" name="TextBox 11">
            <a:extLst>
              <a:ext uri="{FF2B5EF4-FFF2-40B4-BE49-F238E27FC236}">
                <a16:creationId xmlns:a16="http://schemas.microsoft.com/office/drawing/2014/main" id="{F2ED12FB-44A2-8479-1ACC-2B70607D5F0D}"/>
              </a:ext>
            </a:extLst>
          </p:cNvPr>
          <p:cNvSpPr txBox="1"/>
          <p:nvPr/>
        </p:nvSpPr>
        <p:spPr>
          <a:xfrm>
            <a:off x="805264" y="1532663"/>
            <a:ext cx="6264165" cy="830997"/>
          </a:xfrm>
          <a:prstGeom prst="rect">
            <a:avLst/>
          </a:prstGeom>
          <a:noFill/>
        </p:spPr>
        <p:txBody>
          <a:bodyPr wrap="square" rtlCol="0">
            <a:spAutoFit/>
          </a:bodyPr>
          <a:lstStyle/>
          <a:p>
            <a:r>
              <a:rPr lang="en-US" sz="1600" dirty="0" err="1"/>
              <a:t>G.Ravikiran</a:t>
            </a:r>
            <a:r>
              <a:rPr lang="en-US" sz="1600" dirty="0"/>
              <a:t>          </a:t>
            </a:r>
            <a:r>
              <a:rPr lang="en-US" sz="1600" dirty="0" err="1"/>
              <a:t>B.Tech</a:t>
            </a:r>
            <a:r>
              <a:rPr lang="en-US" sz="1600" dirty="0"/>
              <a:t>(DS)</a:t>
            </a:r>
            <a:endParaRPr lang="en-US" sz="1600" dirty="0">
              <a:hlinkClick r:id="rId3"/>
            </a:endParaRPr>
          </a:p>
          <a:p>
            <a:r>
              <a:rPr lang="en-US" sz="1600" dirty="0">
                <a:hlinkClick r:id="rId3"/>
              </a:rPr>
              <a:t>https://www.linkedin.com/in/ravi-kiran-gandupalli-56482b291/</a:t>
            </a:r>
            <a:endParaRPr lang="en-US" sz="1600" dirty="0"/>
          </a:p>
          <a:p>
            <a:r>
              <a:rPr lang="en-US" sz="1600" dirty="0">
                <a:hlinkClick r:id="rId4"/>
              </a:rPr>
              <a:t>https://github.com/raviguna901</a:t>
            </a:r>
            <a:endParaRPr lang="en-US" sz="1600" dirty="0"/>
          </a:p>
        </p:txBody>
      </p:sp>
      <p:sp>
        <p:nvSpPr>
          <p:cNvPr id="14" name="TextBox 13">
            <a:extLst>
              <a:ext uri="{FF2B5EF4-FFF2-40B4-BE49-F238E27FC236}">
                <a16:creationId xmlns:a16="http://schemas.microsoft.com/office/drawing/2014/main" id="{3D88A5DD-5563-8B6E-B5C0-82648BA42809}"/>
              </a:ext>
            </a:extLst>
          </p:cNvPr>
          <p:cNvSpPr txBox="1"/>
          <p:nvPr/>
        </p:nvSpPr>
        <p:spPr>
          <a:xfrm>
            <a:off x="805264" y="2904999"/>
            <a:ext cx="4162096" cy="830997"/>
          </a:xfrm>
          <a:prstGeom prst="rect">
            <a:avLst/>
          </a:prstGeom>
          <a:noFill/>
        </p:spPr>
        <p:txBody>
          <a:bodyPr wrap="square" rtlCol="0">
            <a:spAutoFit/>
          </a:bodyPr>
          <a:lstStyle/>
          <a:p>
            <a:r>
              <a:rPr lang="en-US" sz="1600" dirty="0" err="1"/>
              <a:t>K.Srikanth</a:t>
            </a:r>
            <a:r>
              <a:rPr lang="en-US" sz="1600" dirty="0"/>
              <a:t>            </a:t>
            </a:r>
            <a:r>
              <a:rPr lang="en-US" sz="1600" dirty="0" err="1"/>
              <a:t>B.Tech</a:t>
            </a:r>
            <a:r>
              <a:rPr lang="en-US" sz="1600" dirty="0"/>
              <a:t>(CSE) </a:t>
            </a:r>
            <a:endParaRPr lang="en-US" sz="1600" dirty="0">
              <a:hlinkClick r:id="rId5"/>
            </a:endParaRPr>
          </a:p>
          <a:p>
            <a:r>
              <a:rPr lang="en-US" sz="1600" dirty="0">
                <a:hlinkClick r:id="rId5"/>
              </a:rPr>
              <a:t>http://linkedin.com/in/srikanth</a:t>
            </a:r>
            <a:endParaRPr lang="en-US" sz="1600" dirty="0"/>
          </a:p>
          <a:p>
            <a:r>
              <a:rPr lang="en-US" sz="1600" dirty="0">
                <a:hlinkClick r:id="rId6"/>
              </a:rPr>
              <a:t>https://</a:t>
            </a:r>
            <a:r>
              <a:rPr lang="en-US" sz="1600" dirty="0" err="1">
                <a:hlinkClick r:id="rId6"/>
              </a:rPr>
              <a:t>github.com</a:t>
            </a:r>
            <a:r>
              <a:rPr lang="en-US" sz="1600" dirty="0">
                <a:hlinkClick r:id="rId6"/>
              </a:rPr>
              <a:t>/</a:t>
            </a:r>
            <a:r>
              <a:rPr lang="en-US" sz="1600" dirty="0" err="1">
                <a:hlinkClick r:id="rId6"/>
              </a:rPr>
              <a:t>kethineneisrikanth</a:t>
            </a:r>
            <a:endParaRPr lang="en-US" sz="1600" dirty="0"/>
          </a:p>
        </p:txBody>
      </p:sp>
    </p:spTree>
    <p:extLst>
      <p:ext uri="{BB962C8B-B14F-4D97-AF65-F5344CB8AC3E}">
        <p14:creationId xmlns:p14="http://schemas.microsoft.com/office/powerpoint/2010/main" val="1423031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329609"/>
            <a:ext cx="10039192" cy="120718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dirty="0">
                <a:solidFill>
                  <a:srgbClr val="FF0000"/>
                </a:solidFill>
              </a:rPr>
              <a:t>Agenda</a:t>
            </a:r>
          </a:p>
        </p:txBody>
      </p:sp>
      <p:sp>
        <p:nvSpPr>
          <p:cNvPr id="111" name="Google Shape;111;p4"/>
          <p:cNvSpPr txBox="1">
            <a:spLocks noGrp="1"/>
          </p:cNvSpPr>
          <p:nvPr>
            <p:ph type="body" idx="1"/>
          </p:nvPr>
        </p:nvSpPr>
        <p:spPr>
          <a:xfrm>
            <a:off x="684880" y="1327462"/>
            <a:ext cx="10515600" cy="4777234"/>
          </a:xfrm>
          <a:prstGeom prst="rect">
            <a:avLst/>
          </a:prstGeom>
          <a:noFill/>
          <a:ln>
            <a:noFill/>
          </a:ln>
        </p:spPr>
        <p:txBody>
          <a:bodyPr spcFirstLastPara="1" wrap="square" lIns="91425" tIns="45700" rIns="91425" bIns="45700" anchor="t" anchorCtr="0">
            <a:normAutofit/>
          </a:bodyPr>
          <a:lstStyle/>
          <a:p>
            <a:r>
              <a:rPr lang="en-US" sz="1800" dirty="0"/>
              <a:t>Business Problem</a:t>
            </a:r>
          </a:p>
          <a:p>
            <a:r>
              <a:rPr lang="en-US" sz="1800" dirty="0"/>
              <a:t>Project Objectives</a:t>
            </a:r>
          </a:p>
          <a:p>
            <a:r>
              <a:rPr lang="en-US" sz="1800" dirty="0"/>
              <a:t>Data Source</a:t>
            </a:r>
          </a:p>
          <a:p>
            <a:r>
              <a:rPr lang="en-US" sz="1800" dirty="0"/>
              <a:t>Web Scraping Process</a:t>
            </a:r>
          </a:p>
          <a:p>
            <a:r>
              <a:rPr lang="en-US" sz="1800" dirty="0"/>
              <a:t>Data Collection</a:t>
            </a:r>
          </a:p>
          <a:p>
            <a:r>
              <a:rPr lang="en-US" sz="1800" dirty="0"/>
              <a:t>Data Understanding &amp; Cleaning</a:t>
            </a:r>
          </a:p>
          <a:p>
            <a:r>
              <a:rPr lang="en-US" sz="1800" dirty="0"/>
              <a:t>Exploratory Data Analysis</a:t>
            </a:r>
          </a:p>
          <a:p>
            <a:r>
              <a:rPr lang="en-US" sz="1800" dirty="0"/>
              <a:t>Business Insights</a:t>
            </a:r>
          </a:p>
          <a:p>
            <a:r>
              <a:rPr lang="en-US" sz="1800" dirty="0"/>
              <a:t>Challenges</a:t>
            </a:r>
          </a:p>
          <a:p>
            <a:r>
              <a:rPr lang="en-US" sz="1800" dirty="0"/>
              <a:t>Conclusion</a:t>
            </a:r>
          </a:p>
          <a:p>
            <a:pPr marL="25400" lvl="0" indent="0" algn="l" rtl="0">
              <a:lnSpc>
                <a:spcPct val="90000"/>
              </a:lnSpc>
              <a:spcBef>
                <a:spcPts val="1000"/>
              </a:spcBef>
              <a:spcAft>
                <a:spcPts val="0"/>
              </a:spcAft>
              <a:buSzPts val="2400"/>
              <a:buNone/>
            </a:pPr>
            <a:endParaRPr dirty="0"/>
          </a:p>
        </p:txBody>
      </p:sp>
    </p:spTree>
    <p:extLst>
      <p:ext uri="{BB962C8B-B14F-4D97-AF65-F5344CB8AC3E}">
        <p14:creationId xmlns:p14="http://schemas.microsoft.com/office/powerpoint/2010/main" val="271479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2D0C-F178-6AC4-14AB-2F8BE684A6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2BA0B9-CB53-C3C3-98CF-1B838175562C}"/>
              </a:ext>
            </a:extLst>
          </p:cNvPr>
          <p:cNvSpPr txBox="1"/>
          <p:nvPr/>
        </p:nvSpPr>
        <p:spPr>
          <a:xfrm>
            <a:off x="777767" y="172362"/>
            <a:ext cx="9228083" cy="1354217"/>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Business Problem</a:t>
            </a:r>
          </a:p>
          <a:p>
            <a:endParaRPr lang="en-US" dirty="0"/>
          </a:p>
        </p:txBody>
      </p:sp>
      <p:sp>
        <p:nvSpPr>
          <p:cNvPr id="4" name="TextBox 3">
            <a:extLst>
              <a:ext uri="{FF2B5EF4-FFF2-40B4-BE49-F238E27FC236}">
                <a16:creationId xmlns:a16="http://schemas.microsoft.com/office/drawing/2014/main" id="{B22B3814-DB59-9716-6310-E1E117B6E9AD}"/>
              </a:ext>
            </a:extLst>
          </p:cNvPr>
          <p:cNvSpPr txBox="1"/>
          <p:nvPr/>
        </p:nvSpPr>
        <p:spPr>
          <a:xfrm>
            <a:off x="777767" y="1494681"/>
            <a:ext cx="10604938" cy="4247317"/>
          </a:xfrm>
          <a:prstGeom prst="rect">
            <a:avLst/>
          </a:prstGeom>
          <a:noFill/>
        </p:spPr>
        <p:txBody>
          <a:bodyPr wrap="square" rtlCol="0">
            <a:spAutoFit/>
          </a:bodyPr>
          <a:lstStyle/>
          <a:p>
            <a:r>
              <a:rPr lang="en-US" b="1" dirty="0"/>
              <a:t>Problem Statement : </a:t>
            </a:r>
          </a:p>
          <a:p>
            <a:pPr algn="just"/>
            <a:r>
              <a:rPr lang="en-US" dirty="0"/>
              <a:t>Financial information of listed companies is distributed across multiple sector-wise webpages, making comparison and analysis time-consuming. Investors and analysts face difficulties in evaluating companies based on key financial metrics such as Market Capitalization, ROCE, and P/E Ratio. Manual data collection is inefficient and prone to errors, especially when dealing with a large number of sectors and companies. Therefore, an automated solution is needed to collect, organize, and analyze sector-wise financial data for better business and investment decision-making.</a:t>
            </a:r>
          </a:p>
          <a:p>
            <a:endParaRPr lang="en-US" dirty="0"/>
          </a:p>
          <a:p>
            <a:r>
              <a:rPr lang="en-US" b="1" dirty="0"/>
              <a:t>Solution : </a:t>
            </a:r>
          </a:p>
          <a:p>
            <a:pPr algn="just"/>
            <a:r>
              <a:rPr lang="en-US" dirty="0"/>
              <a:t>An automated web scraping system was developed using </a:t>
            </a:r>
            <a:r>
              <a:rPr lang="en-US" b="1" dirty="0"/>
              <a:t>Python, Requests, and </a:t>
            </a:r>
            <a:r>
              <a:rPr lang="en-US" b="1" dirty="0" err="1"/>
              <a:t>BeautifulSoup</a:t>
            </a:r>
            <a:r>
              <a:rPr lang="en-US" dirty="0"/>
              <a:t> to collect financial data from </a:t>
            </a:r>
            <a:r>
              <a:rPr lang="en-US" b="1" dirty="0" err="1"/>
              <a:t>Screener.in</a:t>
            </a:r>
            <a:r>
              <a:rPr lang="en-US" dirty="0"/>
              <a:t> across multiple sectors. The extracted data was cleaned, organized into a structured dataset, and analyzed using </a:t>
            </a:r>
            <a:r>
              <a:rPr lang="en-US" b="1" dirty="0"/>
              <a:t>Exploratory Data Analysis (EDA)</a:t>
            </a:r>
            <a:r>
              <a:rPr lang="en-US" dirty="0"/>
              <a:t>. Key financial metrics such as </a:t>
            </a:r>
            <a:r>
              <a:rPr lang="en-US" b="1" dirty="0"/>
              <a:t>Market Capitalization, ROCE, P/E Ratio, Dividend Yield, Quarterly Sales, and Quarterly Profit Growth</a:t>
            </a:r>
            <a:r>
              <a:rPr lang="en-US" dirty="0"/>
              <a:t> were used to compare companies and sectors. This solution enables faster, accurate, and data-driven identification of high-performing sectors and companies.</a:t>
            </a:r>
          </a:p>
        </p:txBody>
      </p:sp>
    </p:spTree>
    <p:extLst>
      <p:ext uri="{BB962C8B-B14F-4D97-AF65-F5344CB8AC3E}">
        <p14:creationId xmlns:p14="http://schemas.microsoft.com/office/powerpoint/2010/main" val="25269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4DB50A-1DA2-5050-E3A0-8084DF8579A0}"/>
              </a:ext>
            </a:extLst>
          </p:cNvPr>
          <p:cNvSpPr txBox="1"/>
          <p:nvPr/>
        </p:nvSpPr>
        <p:spPr>
          <a:xfrm>
            <a:off x="809295" y="0"/>
            <a:ext cx="9228083" cy="1354217"/>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IN" sz="4000" b="1" dirty="0">
                <a:solidFill>
                  <a:srgbClr val="C00000"/>
                </a:solidFill>
                <a:latin typeface="Lato" panose="020F0502020204030203" pitchFamily="34" charset="0"/>
                <a:ea typeface="Lato" panose="020F0502020204030203" pitchFamily="34" charset="0"/>
                <a:cs typeface="Lato" panose="020F0502020204030203" pitchFamily="34" charset="0"/>
              </a:rPr>
              <a:t>Objective Of The Project</a:t>
            </a:r>
          </a:p>
          <a:p>
            <a:endParaRPr lang="en-US" dirty="0"/>
          </a:p>
        </p:txBody>
      </p:sp>
      <p:sp>
        <p:nvSpPr>
          <p:cNvPr id="4" name="TextBox 3">
            <a:extLst>
              <a:ext uri="{FF2B5EF4-FFF2-40B4-BE49-F238E27FC236}">
                <a16:creationId xmlns:a16="http://schemas.microsoft.com/office/drawing/2014/main" id="{8A552B99-8BAD-148F-DBF9-D1442D5BA03B}"/>
              </a:ext>
            </a:extLst>
          </p:cNvPr>
          <p:cNvSpPr txBox="1"/>
          <p:nvPr/>
        </p:nvSpPr>
        <p:spPr>
          <a:xfrm>
            <a:off x="793531" y="1292662"/>
            <a:ext cx="10604938" cy="1754326"/>
          </a:xfrm>
          <a:prstGeom prst="rect">
            <a:avLst/>
          </a:prstGeom>
          <a:noFill/>
        </p:spPr>
        <p:txBody>
          <a:bodyPr wrap="square" rtlCol="0">
            <a:spAutoFit/>
          </a:bodyPr>
          <a:lstStyle/>
          <a:p>
            <a:pPr marL="342900" indent="-342900">
              <a:buFont typeface="Arial" panose="020B0604020202020204" pitchFamily="34" charset="0"/>
              <a:buChar char="•"/>
            </a:pPr>
            <a:r>
              <a:rPr lang="en-US" dirty="0"/>
              <a:t>Automate data extraction from </a:t>
            </a:r>
            <a:r>
              <a:rPr lang="en-US" dirty="0" err="1"/>
              <a:t>Screener.in</a:t>
            </a:r>
            <a:r>
              <a:rPr lang="en-US" dirty="0"/>
              <a:t>.</a:t>
            </a:r>
          </a:p>
          <a:p>
            <a:pPr marL="342900" indent="-342900">
              <a:buFont typeface="Arial" panose="020B0604020202020204" pitchFamily="34" charset="0"/>
              <a:buChar char="•"/>
            </a:pPr>
            <a:r>
              <a:rPr lang="en-US" dirty="0"/>
              <a:t>Scrape financial data from all available sectors.</a:t>
            </a:r>
          </a:p>
          <a:p>
            <a:pPr marL="342900" indent="-342900">
              <a:buFont typeface="Arial" panose="020B0604020202020204" pitchFamily="34" charset="0"/>
              <a:buChar char="•"/>
            </a:pPr>
            <a:r>
              <a:rPr lang="en-US" dirty="0"/>
              <a:t>Build a structured master dataset.</a:t>
            </a:r>
          </a:p>
          <a:p>
            <a:pPr marL="342900" indent="-342900">
              <a:buFont typeface="Arial" panose="020B0604020202020204" pitchFamily="34" charset="0"/>
              <a:buChar char="•"/>
            </a:pPr>
            <a:r>
              <a:rPr lang="en-US" dirty="0"/>
              <a:t>Clean and preprocess the collected data.</a:t>
            </a:r>
          </a:p>
          <a:p>
            <a:pPr marL="342900" indent="-342900">
              <a:buFont typeface="Arial" panose="020B0604020202020204" pitchFamily="34" charset="0"/>
              <a:buChar char="•"/>
            </a:pPr>
            <a:r>
              <a:rPr lang="en-US" dirty="0"/>
              <a:t>Analyze sector-wise financial performance.</a:t>
            </a:r>
          </a:p>
          <a:p>
            <a:pPr marL="342900" indent="-342900">
              <a:buFont typeface="Arial" panose="020B0604020202020204" pitchFamily="34" charset="0"/>
              <a:buChar char="•"/>
            </a:pPr>
            <a:r>
              <a:rPr lang="en-US" dirty="0"/>
              <a:t>Identify companies with strong profitability, growth, and capital efficiency.</a:t>
            </a:r>
          </a:p>
        </p:txBody>
      </p:sp>
    </p:spTree>
    <p:extLst>
      <p:ext uri="{BB962C8B-B14F-4D97-AF65-F5344CB8AC3E}">
        <p14:creationId xmlns:p14="http://schemas.microsoft.com/office/powerpoint/2010/main" val="963083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4DB50A-1DA2-5050-E3A0-8084DF8579A0}"/>
              </a:ext>
            </a:extLst>
          </p:cNvPr>
          <p:cNvSpPr txBox="1"/>
          <p:nvPr/>
        </p:nvSpPr>
        <p:spPr>
          <a:xfrm>
            <a:off x="777767" y="172362"/>
            <a:ext cx="9228083" cy="1354217"/>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Introduction</a:t>
            </a:r>
          </a:p>
          <a:p>
            <a:endParaRPr lang="en-US" dirty="0"/>
          </a:p>
        </p:txBody>
      </p:sp>
      <p:sp>
        <p:nvSpPr>
          <p:cNvPr id="4" name="TextBox 3">
            <a:extLst>
              <a:ext uri="{FF2B5EF4-FFF2-40B4-BE49-F238E27FC236}">
                <a16:creationId xmlns:a16="http://schemas.microsoft.com/office/drawing/2014/main" id="{8A552B99-8BAD-148F-DBF9-D1442D5BA03B}"/>
              </a:ext>
            </a:extLst>
          </p:cNvPr>
          <p:cNvSpPr txBox="1"/>
          <p:nvPr/>
        </p:nvSpPr>
        <p:spPr>
          <a:xfrm>
            <a:off x="777767" y="1494681"/>
            <a:ext cx="10604938" cy="2031325"/>
          </a:xfrm>
          <a:prstGeom prst="rect">
            <a:avLst/>
          </a:prstGeom>
          <a:noFill/>
        </p:spPr>
        <p:txBody>
          <a:bodyPr wrap="square" rtlCol="0">
            <a:spAutoFit/>
          </a:bodyPr>
          <a:lstStyle/>
          <a:p>
            <a:pPr algn="just"/>
            <a:r>
              <a:rPr lang="en-US" dirty="0"/>
              <a:t>The Indian stock market consists of companies from various sectors with important financial information available online. However, comparing this information manually is difficult because it is spread across multiple webpages. This project uses </a:t>
            </a:r>
            <a:r>
              <a:rPr lang="en-US" b="1" dirty="0"/>
              <a:t>Python, Requests, and </a:t>
            </a:r>
            <a:r>
              <a:rPr lang="en-US" b="1" dirty="0" err="1"/>
              <a:t>BeautifulSoup</a:t>
            </a:r>
            <a:r>
              <a:rPr lang="en-US" dirty="0"/>
              <a:t> to automatically scrape sector-wise financial data from </a:t>
            </a:r>
            <a:r>
              <a:rPr lang="en-US" b="1" dirty="0" err="1"/>
              <a:t>Screener.in</a:t>
            </a:r>
            <a:r>
              <a:rPr lang="en-US" dirty="0"/>
              <a:t>. The collected data is cleaned and analyzed using </a:t>
            </a:r>
            <a:r>
              <a:rPr lang="en-US" b="1" dirty="0"/>
              <a:t>Exploratory Data Analysis (EDA)</a:t>
            </a:r>
            <a:r>
              <a:rPr lang="en-US" dirty="0"/>
              <a:t> to identify high-performing companies and sectors, supporting better financial analysis and decision-making.</a:t>
            </a:r>
          </a:p>
          <a:p>
            <a:endParaRPr lang="en-US" dirty="0"/>
          </a:p>
        </p:txBody>
      </p:sp>
    </p:spTree>
    <p:extLst>
      <p:ext uri="{BB962C8B-B14F-4D97-AF65-F5344CB8AC3E}">
        <p14:creationId xmlns:p14="http://schemas.microsoft.com/office/powerpoint/2010/main" val="24902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184B-4EE4-AFB8-BA3C-549603C07E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46433F-4BA6-515B-58F7-D52B052E9F99}"/>
              </a:ext>
            </a:extLst>
          </p:cNvPr>
          <p:cNvSpPr txBox="1"/>
          <p:nvPr/>
        </p:nvSpPr>
        <p:spPr>
          <a:xfrm>
            <a:off x="809295" y="0"/>
            <a:ext cx="9228083" cy="1354217"/>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Web Scraping</a:t>
            </a:r>
          </a:p>
          <a:p>
            <a:endParaRPr lang="en-US" dirty="0"/>
          </a:p>
        </p:txBody>
      </p:sp>
      <p:sp>
        <p:nvSpPr>
          <p:cNvPr id="4" name="TextBox 3">
            <a:extLst>
              <a:ext uri="{FF2B5EF4-FFF2-40B4-BE49-F238E27FC236}">
                <a16:creationId xmlns:a16="http://schemas.microsoft.com/office/drawing/2014/main" id="{B563FBE2-1E42-D1F0-898F-7FC734C0B5C4}"/>
              </a:ext>
            </a:extLst>
          </p:cNvPr>
          <p:cNvSpPr txBox="1"/>
          <p:nvPr/>
        </p:nvSpPr>
        <p:spPr>
          <a:xfrm>
            <a:off x="793531" y="1292662"/>
            <a:ext cx="10604938" cy="3970318"/>
          </a:xfrm>
          <a:prstGeom prst="rect">
            <a:avLst/>
          </a:prstGeom>
          <a:noFill/>
        </p:spPr>
        <p:txBody>
          <a:bodyPr wrap="square" rtlCol="0">
            <a:spAutoFit/>
          </a:bodyPr>
          <a:lstStyle/>
          <a:p>
            <a:r>
              <a:rPr lang="en-US" b="1" dirty="0"/>
              <a:t>Workflow:</a:t>
            </a:r>
          </a:p>
          <a:p>
            <a:pPr algn="ctr"/>
            <a:r>
              <a:rPr lang="en-US" dirty="0" err="1"/>
              <a:t>Screener.in</a:t>
            </a:r>
            <a:endParaRPr lang="en-US" dirty="0"/>
          </a:p>
          <a:p>
            <a:pPr algn="ctr"/>
            <a:r>
              <a:rPr lang="en-US" dirty="0"/>
              <a:t>      ↓</a:t>
            </a:r>
          </a:p>
          <a:p>
            <a:pPr algn="ctr"/>
            <a:r>
              <a:rPr lang="en-US" dirty="0"/>
              <a:t>Requests</a:t>
            </a:r>
          </a:p>
          <a:p>
            <a:pPr algn="ctr"/>
            <a:r>
              <a:rPr lang="en-US" dirty="0"/>
              <a:t>      ↓</a:t>
            </a:r>
          </a:p>
          <a:p>
            <a:pPr algn="ctr"/>
            <a:r>
              <a:rPr lang="en-US" dirty="0" err="1"/>
              <a:t>BeautifulSoup</a:t>
            </a:r>
            <a:endParaRPr lang="en-US" dirty="0"/>
          </a:p>
          <a:p>
            <a:pPr algn="ctr"/>
            <a:r>
              <a:rPr lang="en-US" dirty="0"/>
              <a:t>      ↓</a:t>
            </a:r>
          </a:p>
          <a:p>
            <a:pPr algn="ctr"/>
            <a:r>
              <a:rPr lang="en-US" dirty="0"/>
              <a:t>Extract </a:t>
            </a:r>
            <a:r>
              <a:rPr lang="en-US" dirty="0" err="1"/>
              <a:t>href</a:t>
            </a:r>
            <a:r>
              <a:rPr lang="en-US" dirty="0"/>
              <a:t> links</a:t>
            </a:r>
          </a:p>
          <a:p>
            <a:pPr algn="ctr"/>
            <a:r>
              <a:rPr lang="en-US" dirty="0"/>
              <a:t>      ↓</a:t>
            </a:r>
          </a:p>
          <a:p>
            <a:pPr algn="ctr"/>
            <a:r>
              <a:rPr lang="en-US" dirty="0"/>
              <a:t>Loop through sectors</a:t>
            </a:r>
          </a:p>
          <a:p>
            <a:pPr algn="ctr"/>
            <a:r>
              <a:rPr lang="en-US" dirty="0"/>
              <a:t>      ↓</a:t>
            </a:r>
          </a:p>
          <a:p>
            <a:pPr algn="ctr"/>
            <a:r>
              <a:rPr lang="en-US" dirty="0"/>
              <a:t>Scrape company tables</a:t>
            </a:r>
          </a:p>
          <a:p>
            <a:pPr algn="ctr"/>
            <a:r>
              <a:rPr lang="en-US" dirty="0"/>
              <a:t>      ↓</a:t>
            </a:r>
          </a:p>
          <a:p>
            <a:pPr algn="ctr"/>
            <a:r>
              <a:rPr lang="en-US" dirty="0"/>
              <a:t>Dataset</a:t>
            </a:r>
          </a:p>
        </p:txBody>
      </p:sp>
    </p:spTree>
    <p:extLst>
      <p:ext uri="{BB962C8B-B14F-4D97-AF65-F5344CB8AC3E}">
        <p14:creationId xmlns:p14="http://schemas.microsoft.com/office/powerpoint/2010/main" val="3317074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04B25-F014-AA10-AF4C-25FABC0B72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E5EB48-E8E0-F67E-04C6-52D356BE421C}"/>
              </a:ext>
            </a:extLst>
          </p:cNvPr>
          <p:cNvSpPr txBox="1"/>
          <p:nvPr/>
        </p:nvSpPr>
        <p:spPr>
          <a:xfrm>
            <a:off x="809295" y="0"/>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Data Collection</a:t>
            </a:r>
          </a:p>
        </p:txBody>
      </p:sp>
      <p:sp>
        <p:nvSpPr>
          <p:cNvPr id="4" name="TextBox 3">
            <a:extLst>
              <a:ext uri="{FF2B5EF4-FFF2-40B4-BE49-F238E27FC236}">
                <a16:creationId xmlns:a16="http://schemas.microsoft.com/office/drawing/2014/main" id="{A844C501-FDF2-1BC1-8B22-0302F0A26511}"/>
              </a:ext>
            </a:extLst>
          </p:cNvPr>
          <p:cNvSpPr txBox="1"/>
          <p:nvPr/>
        </p:nvSpPr>
        <p:spPr>
          <a:xfrm>
            <a:off x="793531" y="1292662"/>
            <a:ext cx="10604938" cy="4801314"/>
          </a:xfrm>
          <a:prstGeom prst="rect">
            <a:avLst/>
          </a:prstGeom>
          <a:noFill/>
        </p:spPr>
        <p:txBody>
          <a:bodyPr wrap="square" rtlCol="0">
            <a:spAutoFit/>
          </a:bodyPr>
          <a:lstStyle/>
          <a:p>
            <a:r>
              <a:rPr lang="en-US" b="1" dirty="0"/>
              <a:t>Data Collected:</a:t>
            </a:r>
          </a:p>
          <a:p>
            <a:pPr marL="800100" lvl="1" indent="-342900">
              <a:buFont typeface="Arial" panose="020B0604020202020204" pitchFamily="34" charset="0"/>
              <a:buChar char="•"/>
            </a:pPr>
            <a:r>
              <a:rPr lang="en-US" dirty="0"/>
              <a:t>Company Name</a:t>
            </a:r>
          </a:p>
          <a:p>
            <a:pPr marL="800100" lvl="1" indent="-342900">
              <a:buFont typeface="Arial" panose="020B0604020202020204" pitchFamily="34" charset="0"/>
              <a:buChar char="•"/>
            </a:pPr>
            <a:r>
              <a:rPr lang="en-US" dirty="0"/>
              <a:t>Sector</a:t>
            </a:r>
          </a:p>
          <a:p>
            <a:pPr marL="800100" lvl="1" indent="-342900">
              <a:buFont typeface="Arial" panose="020B0604020202020204" pitchFamily="34" charset="0"/>
              <a:buChar char="•"/>
            </a:pPr>
            <a:r>
              <a:rPr lang="en-US" dirty="0"/>
              <a:t>Current Market Price</a:t>
            </a:r>
          </a:p>
          <a:p>
            <a:pPr marL="800100" lvl="1" indent="-342900">
              <a:buFont typeface="Arial" panose="020B0604020202020204" pitchFamily="34" charset="0"/>
              <a:buChar char="•"/>
            </a:pPr>
            <a:r>
              <a:rPr lang="en-US" dirty="0"/>
              <a:t>Market Capitalization</a:t>
            </a:r>
          </a:p>
          <a:p>
            <a:pPr marL="800100" lvl="1" indent="-342900">
              <a:buFont typeface="Arial" panose="020B0604020202020204" pitchFamily="34" charset="0"/>
              <a:buChar char="•"/>
            </a:pPr>
            <a:r>
              <a:rPr lang="en-US" dirty="0"/>
              <a:t>P/E Ratio</a:t>
            </a:r>
          </a:p>
          <a:p>
            <a:pPr marL="800100" lvl="1" indent="-342900">
              <a:buFont typeface="Arial" panose="020B0604020202020204" pitchFamily="34" charset="0"/>
              <a:buChar char="•"/>
            </a:pPr>
            <a:r>
              <a:rPr lang="en-US" dirty="0"/>
              <a:t>Dividend Yield</a:t>
            </a:r>
          </a:p>
          <a:p>
            <a:pPr marL="800100" lvl="1" indent="-342900">
              <a:buFont typeface="Arial" panose="020B0604020202020204" pitchFamily="34" charset="0"/>
              <a:buChar char="•"/>
            </a:pPr>
            <a:r>
              <a:rPr lang="en-US" dirty="0"/>
              <a:t>Quarterly Profit</a:t>
            </a:r>
          </a:p>
          <a:p>
            <a:pPr marL="800100" lvl="1" indent="-342900">
              <a:buFont typeface="Arial" panose="020B0604020202020204" pitchFamily="34" charset="0"/>
              <a:buChar char="•"/>
            </a:pPr>
            <a:r>
              <a:rPr lang="en-US" dirty="0"/>
              <a:t>Quarterly Sales</a:t>
            </a:r>
          </a:p>
          <a:p>
            <a:pPr marL="800100" lvl="1" indent="-342900">
              <a:buFont typeface="Arial" panose="020B0604020202020204" pitchFamily="34" charset="0"/>
              <a:buChar char="•"/>
            </a:pPr>
            <a:r>
              <a:rPr lang="en-US" dirty="0"/>
              <a:t>Quarterly Profit Growth</a:t>
            </a:r>
          </a:p>
          <a:p>
            <a:pPr marL="800100" lvl="1" indent="-342900">
              <a:buFont typeface="Arial" panose="020B0604020202020204" pitchFamily="34" charset="0"/>
              <a:buChar char="•"/>
            </a:pPr>
            <a:r>
              <a:rPr lang="en-US" dirty="0"/>
              <a:t>Quarterly Sales Growth</a:t>
            </a:r>
          </a:p>
          <a:p>
            <a:pPr marL="800100" lvl="1" indent="-342900">
              <a:buFont typeface="Arial" panose="020B0604020202020204" pitchFamily="34" charset="0"/>
              <a:buChar char="•"/>
            </a:pPr>
            <a:r>
              <a:rPr lang="en-US" dirty="0"/>
              <a:t>ROCE</a:t>
            </a:r>
          </a:p>
          <a:p>
            <a:r>
              <a:rPr lang="en-US" b="1" dirty="0"/>
              <a:t>Dataset Summary</a:t>
            </a:r>
          </a:p>
          <a:p>
            <a:pPr marL="742950" lvl="1" indent="-285750">
              <a:buFont typeface="Arial" panose="020B0604020202020204" pitchFamily="34" charset="0"/>
              <a:buChar char="•"/>
            </a:pPr>
            <a:r>
              <a:rPr lang="en-US" dirty="0"/>
              <a:t>180 sectors</a:t>
            </a:r>
          </a:p>
          <a:p>
            <a:pPr marL="742950" lvl="1" indent="-285750">
              <a:buFont typeface="Arial" panose="020B0604020202020204" pitchFamily="34" charset="0"/>
              <a:buChar char="•"/>
            </a:pPr>
            <a:r>
              <a:rPr lang="en-US" dirty="0"/>
              <a:t>2411 companies</a:t>
            </a:r>
          </a:p>
          <a:p>
            <a:pPr marL="742950" lvl="1" indent="-285750">
              <a:buFont typeface="Arial" panose="020B0604020202020204" pitchFamily="34" charset="0"/>
              <a:buChar char="•"/>
            </a:pPr>
            <a:r>
              <a:rPr lang="en-US" dirty="0"/>
              <a:t>12 features</a:t>
            </a:r>
          </a:p>
          <a:p>
            <a:endParaRPr lang="en-US" dirty="0"/>
          </a:p>
        </p:txBody>
      </p:sp>
    </p:spTree>
    <p:extLst>
      <p:ext uri="{BB962C8B-B14F-4D97-AF65-F5344CB8AC3E}">
        <p14:creationId xmlns:p14="http://schemas.microsoft.com/office/powerpoint/2010/main" val="3805432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DF745-35C5-6880-0244-DCC945388C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DC7EF0-7A83-5042-E485-D608BEA4E355}"/>
              </a:ext>
            </a:extLst>
          </p:cNvPr>
          <p:cNvSpPr txBox="1"/>
          <p:nvPr/>
        </p:nvSpPr>
        <p:spPr>
          <a:xfrm>
            <a:off x="809295" y="0"/>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Data Understanding &amp; Cleaning</a:t>
            </a:r>
          </a:p>
        </p:txBody>
      </p:sp>
      <p:sp>
        <p:nvSpPr>
          <p:cNvPr id="4" name="TextBox 3">
            <a:extLst>
              <a:ext uri="{FF2B5EF4-FFF2-40B4-BE49-F238E27FC236}">
                <a16:creationId xmlns:a16="http://schemas.microsoft.com/office/drawing/2014/main" id="{A55C7F80-C7CD-1883-4D6F-3D8D8AC17B2D}"/>
              </a:ext>
            </a:extLst>
          </p:cNvPr>
          <p:cNvSpPr txBox="1"/>
          <p:nvPr/>
        </p:nvSpPr>
        <p:spPr>
          <a:xfrm>
            <a:off x="793531" y="1292662"/>
            <a:ext cx="10604938" cy="1754326"/>
          </a:xfrm>
          <a:prstGeom prst="rect">
            <a:avLst/>
          </a:prstGeom>
          <a:noFill/>
        </p:spPr>
        <p:txBody>
          <a:bodyPr wrap="square" rtlCol="0">
            <a:spAutoFit/>
          </a:bodyPr>
          <a:lstStyle/>
          <a:p>
            <a:r>
              <a:rPr lang="en-US" b="1" dirty="0"/>
              <a:t>Data Understanding</a:t>
            </a:r>
          </a:p>
          <a:p>
            <a:endParaRPr lang="en-US" b="1" dirty="0"/>
          </a:p>
          <a:p>
            <a:pPr marL="742950" lvl="1" indent="-285750">
              <a:buFont typeface="Arial" panose="020B0604020202020204" pitchFamily="34" charset="0"/>
              <a:buChar char="•"/>
            </a:pPr>
            <a:r>
              <a:rPr lang="en-US" dirty="0"/>
              <a:t>Dataset Shape : (2411, 12)</a:t>
            </a:r>
          </a:p>
          <a:p>
            <a:pPr lvl="1"/>
            <a:endParaRPr lang="en-US" dirty="0"/>
          </a:p>
          <a:p>
            <a:pPr marL="742950" lvl="1" indent="-285750">
              <a:buFont typeface="Arial" panose="020B0604020202020204" pitchFamily="34" charset="0"/>
              <a:buChar char="•"/>
            </a:pPr>
            <a:r>
              <a:rPr lang="en-US" dirty="0"/>
              <a:t>Data Types : </a:t>
            </a:r>
          </a:p>
          <a:p>
            <a:pPr lvl="4"/>
            <a:endParaRPr lang="en-US" dirty="0"/>
          </a:p>
        </p:txBody>
      </p:sp>
      <p:pic>
        <p:nvPicPr>
          <p:cNvPr id="7" name="Picture 6">
            <a:extLst>
              <a:ext uri="{FF2B5EF4-FFF2-40B4-BE49-F238E27FC236}">
                <a16:creationId xmlns:a16="http://schemas.microsoft.com/office/drawing/2014/main" id="{7E0FE214-6A94-3F28-C75A-6709343C9D83}"/>
              </a:ext>
            </a:extLst>
          </p:cNvPr>
          <p:cNvPicPr>
            <a:picLocks noChangeAspect="1"/>
          </p:cNvPicPr>
          <p:nvPr/>
        </p:nvPicPr>
        <p:blipFill>
          <a:blip r:embed="rId2"/>
          <a:stretch>
            <a:fillRect/>
          </a:stretch>
        </p:blipFill>
        <p:spPr>
          <a:xfrm>
            <a:off x="2677886" y="2786743"/>
            <a:ext cx="5747657" cy="3795868"/>
          </a:xfrm>
          <a:prstGeom prst="rect">
            <a:avLst/>
          </a:prstGeom>
        </p:spPr>
      </p:pic>
    </p:spTree>
    <p:extLst>
      <p:ext uri="{BB962C8B-B14F-4D97-AF65-F5344CB8AC3E}">
        <p14:creationId xmlns:p14="http://schemas.microsoft.com/office/powerpoint/2010/main" val="1721918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051B5-BD37-683E-F6FC-6F3B397519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6D7B7F-9154-3C46-0D3E-92605EE7131A}"/>
              </a:ext>
            </a:extLst>
          </p:cNvPr>
          <p:cNvSpPr txBox="1"/>
          <p:nvPr/>
        </p:nvSpPr>
        <p:spPr>
          <a:xfrm>
            <a:off x="1324303" y="472966"/>
            <a:ext cx="3057568" cy="4801314"/>
          </a:xfrm>
          <a:prstGeom prst="rect">
            <a:avLst/>
          </a:prstGeom>
          <a:noFill/>
        </p:spPr>
        <p:txBody>
          <a:bodyPr wrap="none" rtlCol="0">
            <a:spAutoFit/>
          </a:bodyPr>
          <a:lstStyle/>
          <a:p>
            <a:pPr marL="742950" lvl="1" indent="-285750">
              <a:buFont typeface="Arial" panose="020B0604020202020204" pitchFamily="34" charset="0"/>
              <a:buChar char="•"/>
            </a:pPr>
            <a:r>
              <a:rPr lang="en-US" dirty="0"/>
              <a:t>Missing Values :</a:t>
            </a:r>
          </a:p>
          <a:p>
            <a:pPr lvl="5" algn="just" latinLnBrk="1"/>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Duplicate Records : 0</a:t>
            </a:r>
          </a:p>
          <a:p>
            <a:endParaRPr lang="en-US" dirty="0"/>
          </a:p>
        </p:txBody>
      </p:sp>
      <p:pic>
        <p:nvPicPr>
          <p:cNvPr id="4" name="Picture 3">
            <a:extLst>
              <a:ext uri="{FF2B5EF4-FFF2-40B4-BE49-F238E27FC236}">
                <a16:creationId xmlns:a16="http://schemas.microsoft.com/office/drawing/2014/main" id="{261C9190-FFBE-0921-F8A4-08FA803A13FD}"/>
              </a:ext>
            </a:extLst>
          </p:cNvPr>
          <p:cNvPicPr>
            <a:picLocks noChangeAspect="1"/>
          </p:cNvPicPr>
          <p:nvPr/>
        </p:nvPicPr>
        <p:blipFill>
          <a:blip r:embed="rId2"/>
          <a:stretch>
            <a:fillRect/>
          </a:stretch>
        </p:blipFill>
        <p:spPr>
          <a:xfrm>
            <a:off x="2853087" y="797903"/>
            <a:ext cx="6019800" cy="3719669"/>
          </a:xfrm>
          <a:prstGeom prst="rect">
            <a:avLst/>
          </a:prstGeom>
        </p:spPr>
      </p:pic>
    </p:spTree>
    <p:extLst>
      <p:ext uri="{BB962C8B-B14F-4D97-AF65-F5344CB8AC3E}">
        <p14:creationId xmlns:p14="http://schemas.microsoft.com/office/powerpoint/2010/main" val="2508263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1090D-EAAC-331C-724A-2DA9BB2FC8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5E4D82-23B6-3A09-9CBE-DC52AAA02A36}"/>
              </a:ext>
            </a:extLst>
          </p:cNvPr>
          <p:cNvSpPr txBox="1"/>
          <p:nvPr/>
        </p:nvSpPr>
        <p:spPr>
          <a:xfrm>
            <a:off x="667407" y="241628"/>
            <a:ext cx="10604938" cy="3416320"/>
          </a:xfrm>
          <a:prstGeom prst="rect">
            <a:avLst/>
          </a:prstGeom>
          <a:noFill/>
        </p:spPr>
        <p:txBody>
          <a:bodyPr wrap="square" rtlCol="0">
            <a:spAutoFit/>
          </a:bodyPr>
          <a:lstStyle/>
          <a:p>
            <a:r>
              <a:rPr lang="en-US" b="1" dirty="0"/>
              <a:t>Data Cleaning</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Removed commas and special symbols</a:t>
            </a:r>
          </a:p>
          <a:p>
            <a:pPr marL="285750" indent="-285750">
              <a:buFont typeface="Arial" panose="020B0604020202020204" pitchFamily="34" charset="0"/>
              <a:buChar char="•"/>
            </a:pPr>
            <a:r>
              <a:rPr lang="en-US" dirty="0"/>
              <a:t>Converted financial columns into numeric format</a:t>
            </a:r>
          </a:p>
          <a:p>
            <a:pPr marL="285750" indent="-285750">
              <a:buFont typeface="Arial" panose="020B0604020202020204" pitchFamily="34" charset="0"/>
              <a:buChar char="•"/>
            </a:pPr>
            <a:r>
              <a:rPr lang="en-US" dirty="0"/>
              <a:t>Missing values filled using sector-wise median :</a:t>
            </a:r>
          </a:p>
          <a:p>
            <a:pPr lvl="4"/>
            <a:r>
              <a:rPr lang="en-US" dirty="0"/>
              <a:t>for col in </a:t>
            </a:r>
            <a:r>
              <a:rPr lang="en-US" dirty="0" err="1"/>
              <a:t>numeric_cols</a:t>
            </a:r>
            <a:r>
              <a:rPr lang="en-US" dirty="0"/>
              <a:t>:</a:t>
            </a:r>
          </a:p>
          <a:p>
            <a:pPr lvl="4"/>
            <a:r>
              <a:rPr lang="en-US" dirty="0"/>
              <a:t>    </a:t>
            </a:r>
            <a:r>
              <a:rPr lang="en-US" dirty="0" err="1"/>
              <a:t>df</a:t>
            </a:r>
            <a:r>
              <a:rPr lang="en-US" dirty="0"/>
              <a:t>[col] = </a:t>
            </a:r>
            <a:r>
              <a:rPr lang="en-US" dirty="0" err="1"/>
              <a:t>master_df.groupby</a:t>
            </a:r>
            <a:r>
              <a:rPr lang="en-US" dirty="0"/>
              <a:t>("Sector")[col].transform(</a:t>
            </a:r>
          </a:p>
          <a:p>
            <a:pPr lvl="4"/>
            <a:r>
              <a:rPr lang="en-US" dirty="0"/>
              <a:t>        lambda x: </a:t>
            </a:r>
            <a:r>
              <a:rPr lang="en-US" dirty="0" err="1"/>
              <a:t>x.fillna</a:t>
            </a:r>
            <a:r>
              <a:rPr lang="en-US" dirty="0"/>
              <a:t>(</a:t>
            </a:r>
            <a:r>
              <a:rPr lang="en-US" dirty="0" err="1"/>
              <a:t>x.median</a:t>
            </a:r>
            <a:r>
              <a:rPr lang="en-US" dirty="0"/>
              <a:t>())</a:t>
            </a:r>
          </a:p>
          <a:p>
            <a:pPr lvl="4"/>
            <a:r>
              <a:rPr lang="en-US" dirty="0"/>
              <a:t>    )</a:t>
            </a:r>
          </a:p>
          <a:p>
            <a:pPr marL="285750" indent="-285750">
              <a:buFont typeface="Arial" panose="020B0604020202020204" pitchFamily="34" charset="0"/>
              <a:buChar char="•"/>
            </a:pPr>
            <a:r>
              <a:rPr lang="en-US" dirty="0"/>
              <a:t>Verified no missing values remained:</a:t>
            </a:r>
          </a:p>
          <a:p>
            <a:pPr lvl="4"/>
            <a:r>
              <a:rPr lang="en-US" dirty="0" err="1"/>
              <a:t>df.isnull</a:t>
            </a:r>
            <a:r>
              <a:rPr lang="en-US" dirty="0"/>
              <a:t>().sum()</a:t>
            </a:r>
          </a:p>
          <a:p>
            <a:pPr lvl="4"/>
            <a:endParaRPr lang="en-US" dirty="0"/>
          </a:p>
        </p:txBody>
      </p:sp>
    </p:spTree>
    <p:extLst>
      <p:ext uri="{BB962C8B-B14F-4D97-AF65-F5344CB8AC3E}">
        <p14:creationId xmlns:p14="http://schemas.microsoft.com/office/powerpoint/2010/main" val="248051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59D6-3693-72F2-4225-80505F118E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65858C-15AA-66AB-3629-BFDEAB27727D}"/>
              </a:ext>
            </a:extLst>
          </p:cNvPr>
          <p:cNvSpPr txBox="1"/>
          <p:nvPr/>
        </p:nvSpPr>
        <p:spPr>
          <a:xfrm>
            <a:off x="809295" y="0"/>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Descriptive Statistics</a:t>
            </a:r>
          </a:p>
        </p:txBody>
      </p:sp>
      <p:pic>
        <p:nvPicPr>
          <p:cNvPr id="2" name="Picture 1">
            <a:extLst>
              <a:ext uri="{FF2B5EF4-FFF2-40B4-BE49-F238E27FC236}">
                <a16:creationId xmlns:a16="http://schemas.microsoft.com/office/drawing/2014/main" id="{E89571A4-737C-FB6F-B8E4-DDABE2891337}"/>
              </a:ext>
            </a:extLst>
          </p:cNvPr>
          <p:cNvPicPr>
            <a:picLocks noChangeAspect="1"/>
          </p:cNvPicPr>
          <p:nvPr/>
        </p:nvPicPr>
        <p:blipFill>
          <a:blip r:embed="rId2"/>
          <a:stretch>
            <a:fillRect/>
          </a:stretch>
        </p:blipFill>
        <p:spPr>
          <a:xfrm>
            <a:off x="2420257" y="1581150"/>
            <a:ext cx="7112000" cy="3695700"/>
          </a:xfrm>
          <a:prstGeom prst="rect">
            <a:avLst/>
          </a:prstGeom>
        </p:spPr>
      </p:pic>
    </p:spTree>
    <p:extLst>
      <p:ext uri="{BB962C8B-B14F-4D97-AF65-F5344CB8AC3E}">
        <p14:creationId xmlns:p14="http://schemas.microsoft.com/office/powerpoint/2010/main" val="152036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83FC-40C0-9D8A-25CF-257D39F511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DBA83C-ABC0-6B05-D596-E3FF1D717254}"/>
              </a:ext>
            </a:extLst>
          </p:cNvPr>
          <p:cNvSpPr txBox="1"/>
          <p:nvPr/>
        </p:nvSpPr>
        <p:spPr>
          <a:xfrm>
            <a:off x="809295" y="0"/>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Exploratory Data Analysis</a:t>
            </a:r>
          </a:p>
        </p:txBody>
      </p:sp>
      <p:sp>
        <p:nvSpPr>
          <p:cNvPr id="2" name="TextBox 1">
            <a:extLst>
              <a:ext uri="{FF2B5EF4-FFF2-40B4-BE49-F238E27FC236}">
                <a16:creationId xmlns:a16="http://schemas.microsoft.com/office/drawing/2014/main" id="{496E43B1-EE02-8F65-3686-251A3D3DA86D}"/>
              </a:ext>
            </a:extLst>
          </p:cNvPr>
          <p:cNvSpPr txBox="1"/>
          <p:nvPr/>
        </p:nvSpPr>
        <p:spPr>
          <a:xfrm>
            <a:off x="809295" y="1077218"/>
            <a:ext cx="4918591" cy="369332"/>
          </a:xfrm>
          <a:prstGeom prst="rect">
            <a:avLst/>
          </a:prstGeom>
          <a:noFill/>
        </p:spPr>
        <p:txBody>
          <a:bodyPr wrap="none" rtlCol="0">
            <a:spAutoFit/>
          </a:bodyPr>
          <a:lstStyle/>
          <a:p>
            <a:r>
              <a:rPr lang="en-US" b="1" dirty="0"/>
              <a:t>1. Top 20 Companies by Market Capitalization</a:t>
            </a:r>
          </a:p>
        </p:txBody>
      </p:sp>
      <p:pic>
        <p:nvPicPr>
          <p:cNvPr id="6" name="Picture 5">
            <a:extLst>
              <a:ext uri="{FF2B5EF4-FFF2-40B4-BE49-F238E27FC236}">
                <a16:creationId xmlns:a16="http://schemas.microsoft.com/office/drawing/2014/main" id="{76918992-D517-A938-E8C6-ACEA9D64914C}"/>
              </a:ext>
            </a:extLst>
          </p:cNvPr>
          <p:cNvPicPr>
            <a:picLocks noChangeAspect="1"/>
          </p:cNvPicPr>
          <p:nvPr/>
        </p:nvPicPr>
        <p:blipFill>
          <a:blip r:embed="rId2"/>
          <a:stretch>
            <a:fillRect/>
          </a:stretch>
        </p:blipFill>
        <p:spPr>
          <a:xfrm>
            <a:off x="1841686" y="1741244"/>
            <a:ext cx="7772400" cy="4280048"/>
          </a:xfrm>
          <a:prstGeom prst="rect">
            <a:avLst/>
          </a:prstGeom>
        </p:spPr>
      </p:pic>
    </p:spTree>
    <p:extLst>
      <p:ext uri="{BB962C8B-B14F-4D97-AF65-F5344CB8AC3E}">
        <p14:creationId xmlns:p14="http://schemas.microsoft.com/office/powerpoint/2010/main" val="3526676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B880A-F52C-E907-B8C7-47DAD39A7407}"/>
              </a:ext>
            </a:extLst>
          </p:cNvPr>
          <p:cNvSpPr txBox="1"/>
          <p:nvPr/>
        </p:nvSpPr>
        <p:spPr>
          <a:xfrm>
            <a:off x="567559" y="357352"/>
            <a:ext cx="2875659" cy="369332"/>
          </a:xfrm>
          <a:prstGeom prst="rect">
            <a:avLst/>
          </a:prstGeom>
          <a:noFill/>
        </p:spPr>
        <p:txBody>
          <a:bodyPr wrap="none" rtlCol="0">
            <a:spAutoFit/>
          </a:bodyPr>
          <a:lstStyle/>
          <a:p>
            <a:r>
              <a:rPr lang="en-US" b="1" dirty="0"/>
              <a:t>2.Market Cap Distribution</a:t>
            </a:r>
          </a:p>
        </p:txBody>
      </p:sp>
      <p:pic>
        <p:nvPicPr>
          <p:cNvPr id="4" name="Picture 3">
            <a:extLst>
              <a:ext uri="{FF2B5EF4-FFF2-40B4-BE49-F238E27FC236}">
                <a16:creationId xmlns:a16="http://schemas.microsoft.com/office/drawing/2014/main" id="{45E7C83C-933C-F7CF-5043-C43146FE377E}"/>
              </a:ext>
            </a:extLst>
          </p:cNvPr>
          <p:cNvPicPr>
            <a:picLocks noChangeAspect="1"/>
          </p:cNvPicPr>
          <p:nvPr/>
        </p:nvPicPr>
        <p:blipFill>
          <a:blip r:embed="rId2"/>
          <a:stretch>
            <a:fillRect/>
          </a:stretch>
        </p:blipFill>
        <p:spPr>
          <a:xfrm>
            <a:off x="2099683" y="978324"/>
            <a:ext cx="7772400" cy="4901352"/>
          </a:xfrm>
          <a:prstGeom prst="rect">
            <a:avLst/>
          </a:prstGeom>
        </p:spPr>
      </p:pic>
    </p:spTree>
    <p:extLst>
      <p:ext uri="{BB962C8B-B14F-4D97-AF65-F5344CB8AC3E}">
        <p14:creationId xmlns:p14="http://schemas.microsoft.com/office/powerpoint/2010/main" val="4064948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5101-CF3B-3654-5C55-FAB78A4B43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DB2187-3D14-3712-876B-D8A6754643CC}"/>
              </a:ext>
            </a:extLst>
          </p:cNvPr>
          <p:cNvSpPr txBox="1"/>
          <p:nvPr/>
        </p:nvSpPr>
        <p:spPr>
          <a:xfrm>
            <a:off x="567559" y="357352"/>
            <a:ext cx="6146876" cy="369332"/>
          </a:xfrm>
          <a:prstGeom prst="rect">
            <a:avLst/>
          </a:prstGeom>
          <a:noFill/>
        </p:spPr>
        <p:txBody>
          <a:bodyPr wrap="none" rtlCol="0">
            <a:spAutoFit/>
          </a:bodyPr>
          <a:lstStyle/>
          <a:p>
            <a:r>
              <a:rPr lang="en-US" b="1" dirty="0"/>
              <a:t>3. Do larger companies use their capital more efficiently?</a:t>
            </a:r>
          </a:p>
        </p:txBody>
      </p:sp>
      <p:pic>
        <p:nvPicPr>
          <p:cNvPr id="3" name="Picture 2">
            <a:extLst>
              <a:ext uri="{FF2B5EF4-FFF2-40B4-BE49-F238E27FC236}">
                <a16:creationId xmlns:a16="http://schemas.microsoft.com/office/drawing/2014/main" id="{1EBC6E61-A699-5B92-7846-7B77CA459EA5}"/>
              </a:ext>
            </a:extLst>
          </p:cNvPr>
          <p:cNvPicPr>
            <a:picLocks noChangeAspect="1"/>
          </p:cNvPicPr>
          <p:nvPr/>
        </p:nvPicPr>
        <p:blipFill>
          <a:blip r:embed="rId2"/>
          <a:stretch>
            <a:fillRect/>
          </a:stretch>
        </p:blipFill>
        <p:spPr>
          <a:xfrm>
            <a:off x="2100943" y="964247"/>
            <a:ext cx="7772400" cy="4929505"/>
          </a:xfrm>
          <a:prstGeom prst="rect">
            <a:avLst/>
          </a:prstGeom>
        </p:spPr>
      </p:pic>
    </p:spTree>
    <p:extLst>
      <p:ext uri="{BB962C8B-B14F-4D97-AF65-F5344CB8AC3E}">
        <p14:creationId xmlns:p14="http://schemas.microsoft.com/office/powerpoint/2010/main" val="1684520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AD4F-C9A7-EE5A-A6CE-1E84C466DE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D89C6B-8714-CA8E-068C-F8EA239C6ABA}"/>
              </a:ext>
            </a:extLst>
          </p:cNvPr>
          <p:cNvSpPr txBox="1"/>
          <p:nvPr/>
        </p:nvSpPr>
        <p:spPr>
          <a:xfrm>
            <a:off x="567559" y="357352"/>
            <a:ext cx="6033318" cy="369332"/>
          </a:xfrm>
          <a:prstGeom prst="rect">
            <a:avLst/>
          </a:prstGeom>
          <a:noFill/>
        </p:spPr>
        <p:txBody>
          <a:bodyPr wrap="none" rtlCol="0">
            <a:spAutoFit/>
          </a:bodyPr>
          <a:lstStyle/>
          <a:p>
            <a:r>
              <a:rPr lang="en-US" b="1" dirty="0"/>
              <a:t>4. Does increasing sales translate into increasing profit?</a:t>
            </a:r>
            <a:endParaRPr lang="en-US" dirty="0"/>
          </a:p>
        </p:txBody>
      </p:sp>
      <p:pic>
        <p:nvPicPr>
          <p:cNvPr id="4" name="Picture 3">
            <a:extLst>
              <a:ext uri="{FF2B5EF4-FFF2-40B4-BE49-F238E27FC236}">
                <a16:creationId xmlns:a16="http://schemas.microsoft.com/office/drawing/2014/main" id="{BAC89E03-5E17-8AF8-1AC5-A5460D9D83F0}"/>
              </a:ext>
            </a:extLst>
          </p:cNvPr>
          <p:cNvPicPr>
            <a:picLocks noChangeAspect="1"/>
          </p:cNvPicPr>
          <p:nvPr/>
        </p:nvPicPr>
        <p:blipFill>
          <a:blip r:embed="rId2"/>
          <a:stretch>
            <a:fillRect/>
          </a:stretch>
        </p:blipFill>
        <p:spPr>
          <a:xfrm>
            <a:off x="2209800" y="964247"/>
            <a:ext cx="7772400" cy="4929505"/>
          </a:xfrm>
          <a:prstGeom prst="rect">
            <a:avLst/>
          </a:prstGeom>
        </p:spPr>
      </p:pic>
    </p:spTree>
    <p:extLst>
      <p:ext uri="{BB962C8B-B14F-4D97-AF65-F5344CB8AC3E}">
        <p14:creationId xmlns:p14="http://schemas.microsoft.com/office/powerpoint/2010/main" val="1107611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C8A793-B3C4-9AA2-599C-95506975CD2B}"/>
              </a:ext>
            </a:extLst>
          </p:cNvPr>
          <p:cNvSpPr txBox="1"/>
          <p:nvPr/>
        </p:nvSpPr>
        <p:spPr>
          <a:xfrm>
            <a:off x="599090" y="399393"/>
            <a:ext cx="2582502" cy="369332"/>
          </a:xfrm>
          <a:prstGeom prst="rect">
            <a:avLst/>
          </a:prstGeom>
          <a:noFill/>
        </p:spPr>
        <p:txBody>
          <a:bodyPr wrap="none" rtlCol="0">
            <a:spAutoFit/>
          </a:bodyPr>
          <a:lstStyle/>
          <a:p>
            <a:r>
              <a:rPr lang="en-US" b="1" dirty="0"/>
              <a:t>5.Correlation Heatmap</a:t>
            </a:r>
          </a:p>
        </p:txBody>
      </p:sp>
      <p:pic>
        <p:nvPicPr>
          <p:cNvPr id="4" name="Picture 3">
            <a:extLst>
              <a:ext uri="{FF2B5EF4-FFF2-40B4-BE49-F238E27FC236}">
                <a16:creationId xmlns:a16="http://schemas.microsoft.com/office/drawing/2014/main" id="{AAD8D1FB-A1E3-0A46-B85C-C6ECF5A6446A}"/>
              </a:ext>
            </a:extLst>
          </p:cNvPr>
          <p:cNvPicPr>
            <a:picLocks noChangeAspect="1"/>
          </p:cNvPicPr>
          <p:nvPr/>
        </p:nvPicPr>
        <p:blipFill>
          <a:blip r:embed="rId2"/>
          <a:stretch>
            <a:fillRect/>
          </a:stretch>
        </p:blipFill>
        <p:spPr>
          <a:xfrm>
            <a:off x="2567411" y="768725"/>
            <a:ext cx="6040562" cy="4822778"/>
          </a:xfrm>
          <a:prstGeom prst="rect">
            <a:avLst/>
          </a:prstGeom>
        </p:spPr>
      </p:pic>
    </p:spTree>
    <p:extLst>
      <p:ext uri="{BB962C8B-B14F-4D97-AF65-F5344CB8AC3E}">
        <p14:creationId xmlns:p14="http://schemas.microsoft.com/office/powerpoint/2010/main" val="184447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A58E-6582-D7A3-EE27-D2C041BF55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AC3791-3997-8A61-E31D-41C93FE2B91B}"/>
              </a:ext>
            </a:extLst>
          </p:cNvPr>
          <p:cNvSpPr txBox="1"/>
          <p:nvPr/>
        </p:nvSpPr>
        <p:spPr>
          <a:xfrm>
            <a:off x="809295" y="0"/>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Inferential Statistics</a:t>
            </a:r>
          </a:p>
        </p:txBody>
      </p:sp>
      <p:pic>
        <p:nvPicPr>
          <p:cNvPr id="4" name="Picture 3">
            <a:extLst>
              <a:ext uri="{FF2B5EF4-FFF2-40B4-BE49-F238E27FC236}">
                <a16:creationId xmlns:a16="http://schemas.microsoft.com/office/drawing/2014/main" id="{90976BC4-D907-826E-28A0-463A1D9CED11}"/>
              </a:ext>
            </a:extLst>
          </p:cNvPr>
          <p:cNvPicPr>
            <a:picLocks noChangeAspect="1"/>
          </p:cNvPicPr>
          <p:nvPr/>
        </p:nvPicPr>
        <p:blipFill>
          <a:blip r:embed="rId2"/>
          <a:stretch>
            <a:fillRect/>
          </a:stretch>
        </p:blipFill>
        <p:spPr>
          <a:xfrm>
            <a:off x="3550992" y="1156607"/>
            <a:ext cx="3744687" cy="2598964"/>
          </a:xfrm>
          <a:prstGeom prst="rect">
            <a:avLst/>
          </a:prstGeom>
        </p:spPr>
      </p:pic>
      <p:sp>
        <p:nvSpPr>
          <p:cNvPr id="5" name="TextBox 4">
            <a:extLst>
              <a:ext uri="{FF2B5EF4-FFF2-40B4-BE49-F238E27FC236}">
                <a16:creationId xmlns:a16="http://schemas.microsoft.com/office/drawing/2014/main" id="{390E4251-A24B-6D39-FAD6-B571CAB1926E}"/>
              </a:ext>
            </a:extLst>
          </p:cNvPr>
          <p:cNvSpPr txBox="1"/>
          <p:nvPr/>
        </p:nvSpPr>
        <p:spPr>
          <a:xfrm>
            <a:off x="914400" y="5378227"/>
            <a:ext cx="8774390" cy="646331"/>
          </a:xfrm>
          <a:prstGeom prst="rect">
            <a:avLst/>
          </a:prstGeom>
          <a:noFill/>
        </p:spPr>
        <p:txBody>
          <a:bodyPr wrap="none" rtlCol="0">
            <a:spAutoFit/>
          </a:bodyPr>
          <a:lstStyle/>
          <a:p>
            <a:pPr latinLnBrk="1"/>
            <a:r>
              <a:rPr lang="en-US" dirty="0"/>
              <a:t>Reject H0</a:t>
            </a:r>
          </a:p>
          <a:p>
            <a:pPr latinLnBrk="1"/>
            <a:r>
              <a:rPr lang="en-US" dirty="0"/>
              <a:t>There is a statistically significant difference in mean ROCE across the selected sectors.</a:t>
            </a:r>
          </a:p>
        </p:txBody>
      </p:sp>
      <p:sp>
        <p:nvSpPr>
          <p:cNvPr id="6" name="TextBox 5">
            <a:extLst>
              <a:ext uri="{FF2B5EF4-FFF2-40B4-BE49-F238E27FC236}">
                <a16:creationId xmlns:a16="http://schemas.microsoft.com/office/drawing/2014/main" id="{D215A666-0311-11BA-9A36-54866B04DEBE}"/>
              </a:ext>
            </a:extLst>
          </p:cNvPr>
          <p:cNvSpPr txBox="1"/>
          <p:nvPr/>
        </p:nvSpPr>
        <p:spPr>
          <a:xfrm>
            <a:off x="914400" y="4747844"/>
            <a:ext cx="1603324" cy="400110"/>
          </a:xfrm>
          <a:prstGeom prst="rect">
            <a:avLst/>
          </a:prstGeom>
          <a:noFill/>
        </p:spPr>
        <p:txBody>
          <a:bodyPr wrap="none" rtlCol="0">
            <a:spAutoFit/>
          </a:bodyPr>
          <a:lstStyle/>
          <a:p>
            <a:r>
              <a:rPr lang="en-US" sz="2000" b="1" dirty="0">
                <a:solidFill>
                  <a:srgbClr val="FF0000"/>
                </a:solidFill>
              </a:rPr>
              <a:t>Conclusion:</a:t>
            </a:r>
          </a:p>
        </p:txBody>
      </p:sp>
      <p:pic>
        <p:nvPicPr>
          <p:cNvPr id="7" name="Picture 6">
            <a:extLst>
              <a:ext uri="{FF2B5EF4-FFF2-40B4-BE49-F238E27FC236}">
                <a16:creationId xmlns:a16="http://schemas.microsoft.com/office/drawing/2014/main" id="{D5CBE34F-4E1C-8B4F-9521-5679C1AF2591}"/>
              </a:ext>
            </a:extLst>
          </p:cNvPr>
          <p:cNvPicPr>
            <a:picLocks noChangeAspect="1"/>
          </p:cNvPicPr>
          <p:nvPr/>
        </p:nvPicPr>
        <p:blipFill>
          <a:blip r:embed="rId3"/>
          <a:stretch>
            <a:fillRect/>
          </a:stretch>
        </p:blipFill>
        <p:spPr>
          <a:xfrm>
            <a:off x="2983340" y="3982699"/>
            <a:ext cx="3314700" cy="584200"/>
          </a:xfrm>
          <a:prstGeom prst="rect">
            <a:avLst/>
          </a:prstGeom>
        </p:spPr>
      </p:pic>
    </p:spTree>
    <p:extLst>
      <p:ext uri="{BB962C8B-B14F-4D97-AF65-F5344CB8AC3E}">
        <p14:creationId xmlns:p14="http://schemas.microsoft.com/office/powerpoint/2010/main" val="1452638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CA50-568F-ED46-CD4F-69E0C3956C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1B73F9-03B9-000B-5DD9-087406B97E25}"/>
              </a:ext>
            </a:extLst>
          </p:cNvPr>
          <p:cNvSpPr txBox="1"/>
          <p:nvPr/>
        </p:nvSpPr>
        <p:spPr>
          <a:xfrm>
            <a:off x="630619" y="435935"/>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Business Insights</a:t>
            </a:r>
          </a:p>
        </p:txBody>
      </p:sp>
      <p:sp>
        <p:nvSpPr>
          <p:cNvPr id="4" name="TextBox 3">
            <a:extLst>
              <a:ext uri="{FF2B5EF4-FFF2-40B4-BE49-F238E27FC236}">
                <a16:creationId xmlns:a16="http://schemas.microsoft.com/office/drawing/2014/main" id="{F5424F53-9A29-80F9-EE8C-86EBEFF27055}"/>
              </a:ext>
            </a:extLst>
          </p:cNvPr>
          <p:cNvSpPr txBox="1"/>
          <p:nvPr/>
        </p:nvSpPr>
        <p:spPr>
          <a:xfrm>
            <a:off x="630619" y="1728586"/>
            <a:ext cx="9795644" cy="2862322"/>
          </a:xfrm>
          <a:prstGeom prst="rect">
            <a:avLst/>
          </a:prstGeom>
          <a:noFill/>
        </p:spPr>
        <p:txBody>
          <a:bodyPr wrap="square" rtlCol="0">
            <a:spAutoFit/>
          </a:bodyPr>
          <a:lstStyle/>
          <a:p>
            <a:pPr marL="342900" indent="-342900">
              <a:buFont typeface="+mj-lt"/>
              <a:buAutoNum type="arabicPeriod"/>
            </a:pPr>
            <a:r>
              <a:rPr lang="en-US" dirty="0"/>
              <a:t>Large-cap companies are concentrated in a few sectors such as Banking, IT, Energy, and Telecom.</a:t>
            </a:r>
          </a:p>
          <a:p>
            <a:pPr marL="342900" indent="-342900">
              <a:buFont typeface="+mj-lt"/>
              <a:buAutoNum type="arabicPeriod"/>
            </a:pPr>
            <a:r>
              <a:rPr lang="en-US" dirty="0"/>
              <a:t>High ROCE companies demonstrate stronger capital utilization and operational efficiency.</a:t>
            </a:r>
          </a:p>
          <a:p>
            <a:pPr marL="342900" indent="-342900">
              <a:buFont typeface="+mj-lt"/>
              <a:buAutoNum type="arabicPeriod"/>
            </a:pPr>
            <a:r>
              <a:rPr lang="en-US" dirty="0"/>
              <a:t>The Indian stock market contains many small- and mid-cap companies, with relatively few very large companies.</a:t>
            </a:r>
          </a:p>
          <a:p>
            <a:pPr marL="342900" indent="-342900">
              <a:buFont typeface="+mj-lt"/>
              <a:buAutoNum type="arabicPeriod"/>
            </a:pPr>
            <a:r>
              <a:rPr lang="en-US" dirty="0"/>
              <a:t>Sector-level analysis provides a clearer picture of industry performance than evaluating individual companies alone.</a:t>
            </a:r>
          </a:p>
          <a:p>
            <a:pPr marL="342900" indent="-342900">
              <a:buFont typeface="+mj-lt"/>
              <a:buAutoNum type="arabicPeriod"/>
            </a:pPr>
            <a:r>
              <a:rPr lang="en-US" dirty="0"/>
              <a:t>Correlation analysis shows that different financial indicators capture different aspects of company performance, so investment decisions should not rely on a single metric.</a:t>
            </a:r>
          </a:p>
          <a:p>
            <a:endParaRPr lang="en-US" dirty="0"/>
          </a:p>
        </p:txBody>
      </p:sp>
    </p:spTree>
    <p:extLst>
      <p:ext uri="{BB962C8B-B14F-4D97-AF65-F5344CB8AC3E}">
        <p14:creationId xmlns:p14="http://schemas.microsoft.com/office/powerpoint/2010/main" val="532233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ECE87-E990-B228-D0B1-2079CDDC7C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3B2355-8D04-FF99-9FA8-465FEA3EA67B}"/>
              </a:ext>
            </a:extLst>
          </p:cNvPr>
          <p:cNvSpPr txBox="1"/>
          <p:nvPr/>
        </p:nvSpPr>
        <p:spPr>
          <a:xfrm>
            <a:off x="677917" y="531628"/>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Challenges</a:t>
            </a:r>
          </a:p>
        </p:txBody>
      </p:sp>
      <p:sp>
        <p:nvSpPr>
          <p:cNvPr id="4" name="TextBox 3">
            <a:extLst>
              <a:ext uri="{FF2B5EF4-FFF2-40B4-BE49-F238E27FC236}">
                <a16:creationId xmlns:a16="http://schemas.microsoft.com/office/drawing/2014/main" id="{30E761A4-9CE2-F9BC-AA4E-1E61419DF2AA}"/>
              </a:ext>
            </a:extLst>
          </p:cNvPr>
          <p:cNvSpPr txBox="1"/>
          <p:nvPr/>
        </p:nvSpPr>
        <p:spPr>
          <a:xfrm>
            <a:off x="677917" y="1951869"/>
            <a:ext cx="9795644" cy="1754326"/>
          </a:xfrm>
          <a:prstGeom prst="rect">
            <a:avLst/>
          </a:prstGeom>
          <a:noFill/>
        </p:spPr>
        <p:txBody>
          <a:bodyPr wrap="square" rtlCol="0">
            <a:spAutoFit/>
          </a:bodyPr>
          <a:lstStyle/>
          <a:p>
            <a:pPr marL="342900" indent="-342900">
              <a:buFont typeface="+mj-lt"/>
              <a:buAutoNum type="arabicPeriod"/>
            </a:pPr>
            <a:r>
              <a:rPr lang="en-US" dirty="0"/>
              <a:t>Understanding the HTML structure of </a:t>
            </a:r>
            <a:r>
              <a:rPr lang="en-US" dirty="0" err="1"/>
              <a:t>Screener.in</a:t>
            </a:r>
            <a:r>
              <a:rPr lang="en-US" dirty="0"/>
              <a:t>.</a:t>
            </a:r>
          </a:p>
          <a:p>
            <a:pPr marL="342900" indent="-342900">
              <a:buFont typeface="+mj-lt"/>
              <a:buAutoNum type="arabicPeriod"/>
            </a:pPr>
            <a:r>
              <a:rPr lang="en-US" dirty="0"/>
              <a:t>Extracting correct </a:t>
            </a:r>
            <a:r>
              <a:rPr lang="en-US" dirty="0" err="1"/>
              <a:t>href</a:t>
            </a:r>
            <a:r>
              <a:rPr lang="en-US" dirty="0"/>
              <a:t> links.</a:t>
            </a:r>
          </a:p>
          <a:p>
            <a:pPr marL="342900" indent="-342900">
              <a:buFont typeface="+mj-lt"/>
              <a:buAutoNum type="arabicPeriod"/>
            </a:pPr>
            <a:r>
              <a:rPr lang="en-US" dirty="0"/>
              <a:t>Automating scraping across multiple sector pages.</a:t>
            </a:r>
          </a:p>
          <a:p>
            <a:pPr marL="342900" indent="-342900">
              <a:buFont typeface="+mj-lt"/>
              <a:buAutoNum type="arabicPeriod"/>
            </a:pPr>
            <a:r>
              <a:rPr lang="en-US" dirty="0"/>
              <a:t>Handling missing financial values.</a:t>
            </a:r>
          </a:p>
          <a:p>
            <a:pPr marL="342900" indent="-342900">
              <a:buFont typeface="+mj-lt"/>
              <a:buAutoNum type="arabicPeriod"/>
            </a:pPr>
            <a:r>
              <a:rPr lang="en-US" dirty="0"/>
              <a:t>Converting financial values into numeric format.</a:t>
            </a:r>
          </a:p>
          <a:p>
            <a:pPr marL="342900" indent="-342900">
              <a:buFont typeface="+mj-lt"/>
              <a:buAutoNum type="arabicPeriod"/>
            </a:pPr>
            <a:r>
              <a:rPr lang="en-US" dirty="0"/>
              <a:t>Managing a large dataset containing over 2400 companies.</a:t>
            </a:r>
          </a:p>
        </p:txBody>
      </p:sp>
    </p:spTree>
    <p:extLst>
      <p:ext uri="{BB962C8B-B14F-4D97-AF65-F5344CB8AC3E}">
        <p14:creationId xmlns:p14="http://schemas.microsoft.com/office/powerpoint/2010/main" val="625283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95840-042A-0775-23FE-26A014E779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32125C-EBE3-641D-99D7-8000605931E5}"/>
              </a:ext>
            </a:extLst>
          </p:cNvPr>
          <p:cNvSpPr txBox="1"/>
          <p:nvPr/>
        </p:nvSpPr>
        <p:spPr>
          <a:xfrm>
            <a:off x="630619" y="563526"/>
            <a:ext cx="9228083" cy="1077218"/>
          </a:xfrm>
          <a:prstGeom prst="rect">
            <a:avLst/>
          </a:prstGeom>
          <a:noFill/>
        </p:spPr>
        <p:txBody>
          <a:bodyPr wrap="square" rtlCol="0">
            <a:spAutoFit/>
          </a:bodyPr>
          <a:lstStyle/>
          <a:p>
            <a:endParaRPr lang="en-IN" sz="2400" b="1" dirty="0">
              <a:solidFill>
                <a:srgbClr val="C00000"/>
              </a:solidFill>
              <a:latin typeface="Lato" panose="020F0502020204030203" pitchFamily="34" charset="0"/>
              <a:ea typeface="Lato" panose="020F0502020204030203" pitchFamily="34" charset="0"/>
              <a:cs typeface="Lato" panose="020F0502020204030203" pitchFamily="34" charset="0"/>
            </a:endParaRPr>
          </a:p>
          <a:p>
            <a:r>
              <a:rPr lang="en-US" sz="4000" b="1" dirty="0">
                <a:solidFill>
                  <a:srgbClr val="FF0000"/>
                </a:solidFill>
              </a:rPr>
              <a:t>Conclusion</a:t>
            </a:r>
          </a:p>
        </p:txBody>
      </p:sp>
      <p:sp>
        <p:nvSpPr>
          <p:cNvPr id="4" name="TextBox 3">
            <a:extLst>
              <a:ext uri="{FF2B5EF4-FFF2-40B4-BE49-F238E27FC236}">
                <a16:creationId xmlns:a16="http://schemas.microsoft.com/office/drawing/2014/main" id="{BC6AF7E2-EECB-3FCD-AA9D-B534F4589A00}"/>
              </a:ext>
            </a:extLst>
          </p:cNvPr>
          <p:cNvSpPr txBox="1"/>
          <p:nvPr/>
        </p:nvSpPr>
        <p:spPr>
          <a:xfrm>
            <a:off x="630619" y="2047562"/>
            <a:ext cx="11097093" cy="2585323"/>
          </a:xfrm>
          <a:prstGeom prst="rect">
            <a:avLst/>
          </a:prstGeom>
          <a:noFill/>
        </p:spPr>
        <p:txBody>
          <a:bodyPr wrap="square" rtlCol="0">
            <a:spAutoFit/>
          </a:bodyPr>
          <a:lstStyle/>
          <a:p>
            <a:pPr algn="just"/>
            <a:r>
              <a:rPr lang="en-US" dirty="0"/>
              <a:t>This project successfully automated the extraction of financial data from </a:t>
            </a:r>
            <a:r>
              <a:rPr lang="en-US" b="1" dirty="0" err="1"/>
              <a:t>Screener.in</a:t>
            </a:r>
            <a:r>
              <a:rPr lang="en-US" dirty="0"/>
              <a:t> using </a:t>
            </a:r>
            <a:r>
              <a:rPr lang="en-US" b="1" dirty="0"/>
              <a:t>Requests</a:t>
            </a:r>
            <a:r>
              <a:rPr lang="en-US" dirty="0"/>
              <a:t> and </a:t>
            </a:r>
            <a:r>
              <a:rPr lang="en-US" b="1" dirty="0" err="1"/>
              <a:t>BeautifulSoup</a:t>
            </a:r>
            <a:r>
              <a:rPr lang="en-US" dirty="0"/>
              <a:t>. Financial information from </a:t>
            </a:r>
            <a:r>
              <a:rPr lang="en-US" b="1" dirty="0"/>
              <a:t>180 sectors</a:t>
            </a:r>
            <a:r>
              <a:rPr lang="en-US" dirty="0"/>
              <a:t> covering </a:t>
            </a:r>
            <a:r>
              <a:rPr lang="en-US" b="1" dirty="0"/>
              <a:t>2,411 companies</a:t>
            </a:r>
            <a:r>
              <a:rPr lang="en-US" dirty="0"/>
              <a:t> was collected, cleaned, and organized into a structured dataset for analysis.</a:t>
            </a:r>
          </a:p>
          <a:p>
            <a:pPr algn="just"/>
            <a:endParaRPr lang="en-US" dirty="0"/>
          </a:p>
          <a:p>
            <a:pPr algn="just"/>
            <a:r>
              <a:rPr lang="en-US" dirty="0"/>
              <a:t>Exploratory Data Analysis (EDA) helped identify top-performing companies and sectors based on </a:t>
            </a:r>
            <a:r>
              <a:rPr lang="en-US" b="1" dirty="0"/>
              <a:t>Market Capitalization, ROCE, and other key financial metrics</a:t>
            </a:r>
            <a:r>
              <a:rPr lang="en-US" dirty="0"/>
              <a:t>. The project demonstrates how web scraping and data analysis can efficiently convert publicly available financial data into meaningful business insights for better decision-making.</a:t>
            </a:r>
          </a:p>
          <a:p>
            <a:endParaRPr lang="en-US" dirty="0"/>
          </a:p>
        </p:txBody>
      </p:sp>
    </p:spTree>
    <p:extLst>
      <p:ext uri="{BB962C8B-B14F-4D97-AF65-F5344CB8AC3E}">
        <p14:creationId xmlns:p14="http://schemas.microsoft.com/office/powerpoint/2010/main" val="1202502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868</Words>
  <Application>Microsoft Macintosh PowerPoint</Application>
  <PresentationFormat>Widescreen</PresentationFormat>
  <Paragraphs>140</Paragraphs>
  <Slides>22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Lato</vt:lpstr>
      <vt:lpstr>Libre Baskerville</vt:lpstr>
      <vt:lpstr>Office Theme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Gandupalli Shekar</dc:creator>
  <cp:lastModifiedBy>Gandupalli Shekar</cp:lastModifiedBy>
  <cp:revision>6</cp:revision>
  <dcterms:created xsi:type="dcterms:W3CDTF">2026-08-07T10:11:19Z</dcterms:created>
  <dcterms:modified xsi:type="dcterms:W3CDTF">2026-08-19T11:44:19Z</dcterms:modified>
</cp:coreProperties>
</file>